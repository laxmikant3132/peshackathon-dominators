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1300" b="1" i="0">
                <a:solidFill>
                  <a:srgbClr val="1A56A0"/>
                </a:solidFill>
                <a:latin typeface="Calibri"/>
              </a:rPr>
              <a:t>SMART INDIA HACKATHON 2026  |  OFFICIAL IDEA SUBMISSION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l"/>
            <a:r>
              <a:rPr sz="3400" b="1" i="0">
                <a:solidFill>
                  <a:srgbClr val="0B192C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645920"/>
            <a:ext cx="626364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1783080"/>
            <a:ext cx="5989320" cy="804672"/>
          </a:xfrm>
          <a:prstGeom prst="roundRect">
            <a:avLst/>
          </a:prstGeom>
          <a:solidFill>
            <a:srgbClr val="0B192C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🛡️ HUMAN FIREWALL: SENTINEL AI</a:t>
            </a:r>
          </a:p>
          <a:p>
            <a:r>
              <a:rPr sz="1000" b="0" i="1">
                <a:solidFill>
                  <a:srgbClr val="AAD7FF"/>
                </a:solidFill>
                <a:latin typeface="Calibri"/>
              </a:rPr>
              <a:t>AI-Powered Email Threat Detection, GeoLocation &amp; Forensic Intelligence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2670048"/>
            <a:ext cx="5989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Organization: </a:t>
            </a:r>
            <a:r>
              <a:rPr sz="1019" b="0" i="0">
                <a:solidFill>
                  <a:srgbClr val="212529"/>
                </a:solidFill>
                <a:latin typeface="Calibri"/>
              </a:rPr>
              <a:t>All India Council for Technical Education (Cyber Security Cell)</a:t>
            </a:r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Problem Statement ID: </a:t>
            </a:r>
            <a:r>
              <a:rPr sz="1100" b="1" i="0">
                <a:solidFill>
                  <a:srgbClr val="B91C1C"/>
                </a:solidFill>
                <a:latin typeface="Calibri"/>
              </a:rPr>
              <a:t>SIH26106</a:t>
            </a:r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Problem Statement Title: </a:t>
            </a:r>
            <a:r>
              <a:rPr sz="1019" b="1" i="0">
                <a:solidFill>
                  <a:srgbClr val="212529"/>
                </a:solidFill>
                <a:latin typeface="Calibri"/>
              </a:rPr>
              <a:t>AI-Powered Email Threat Detection, GeoLocation and Forensic Intelligence Platform</a:t>
            </a:r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Theme: </a:t>
            </a:r>
            <a:r>
              <a:rPr sz="1019" b="0" i="0">
                <a:solidFill>
                  <a:srgbClr val="212529"/>
                </a:solidFill>
                <a:latin typeface="Calibri"/>
              </a:rPr>
              <a:t>Blockchain &amp; Cybersecurity</a:t>
            </a:r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PS Category: </a:t>
            </a:r>
            <a:r>
              <a:rPr sz="1019" b="0" i="0">
                <a:solidFill>
                  <a:srgbClr val="212529"/>
                </a:solidFill>
                <a:latin typeface="Calibri"/>
              </a:rPr>
              <a:t>Software Edition</a:t>
            </a:r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Team ID: </a:t>
            </a:r>
            <a:r>
              <a:rPr sz="1100" b="1" i="0">
                <a:solidFill>
                  <a:srgbClr val="B91C1C"/>
                </a:solidFill>
                <a:latin typeface="Calibri"/>
              </a:rPr>
              <a:t>SIH26106_DOMINATORS</a:t>
            </a:r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sz="1050" b="1" i="0">
                <a:solidFill>
                  <a:srgbClr val="0B192C"/>
                </a:solidFill>
                <a:latin typeface="Calibri"/>
              </a:rPr>
              <a:t>• Team Name: </a:t>
            </a:r>
            <a:r>
              <a:rPr sz="1150" b="1" i="0">
                <a:solidFill>
                  <a:srgbClr val="1A56A0"/>
                </a:solidFill>
                <a:latin typeface="Calibri"/>
              </a:rPr>
              <a:t>DOMINATORS (Registered on portal)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742432"/>
            <a:ext cx="1426464" cy="43891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0B192C"/>
                </a:solidFill>
                <a:latin typeface="Calibri"/>
              </a:rPr>
              <a:t>AI Email Threat Shield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20824" y="5742432"/>
            <a:ext cx="1426464" cy="43891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0B192C"/>
                </a:solidFill>
                <a:latin typeface="Calibri"/>
              </a:rPr>
              <a:t>Deep IP GeoLocation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38728" y="5742432"/>
            <a:ext cx="1426464" cy="43891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0B192C"/>
                </a:solidFill>
                <a:latin typeface="Calibri"/>
              </a:rPr>
              <a:t>Forensic Graph &amp; Dossiers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56632" y="5742432"/>
            <a:ext cx="1426464" cy="43891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0B192C"/>
                </a:solidFill>
                <a:latin typeface="Calibri"/>
              </a:rPr>
              <a:t>Zero-Hour Endpoint Guard</a:t>
            </a:r>
          </a:p>
        </p:txBody>
      </p:sp>
      <p:pic>
        <p:nvPicPr>
          <p:cNvPr id="45" name="Picture 44" descr="slide1_he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45920"/>
            <a:ext cx="5029200" cy="379476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720840" y="5532120"/>
            <a:ext cx="5029200" cy="804672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38BDF8"/>
                </a:solidFill>
                <a:latin typeface="Calibri"/>
              </a:rPr>
              <a:t>⚡ PRODUCTION-GRADE WORKING PROTOTYPE READY
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Next.js 14 Cockpit  •  FastAPI Engine  •  Chromium MV3 Extension  •  IT Act Sec 65B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73152"/>
            <a:ext cx="7772400" cy="914400"/>
          </a:xfrm>
        </p:spPr>
        <p:txBody>
          <a:bodyPr anchor="ctr"/>
          <a:lstStyle/>
          <a:p>
            <a:pPr eaLnBrk="1" hangingPunct="1" algn="ctr"/>
            <a:r>
              <a:rPr sz="2000" b="1" i="0">
                <a:solidFill>
                  <a:srgbClr val="0B192C"/>
                </a:solidFill>
                <a:latin typeface="Times New Roman"/>
              </a:rPr>
              <a:t>IDEA TITLE: HUMAN FIREWALL (SENTINEL AI PLATFORM)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777240"/>
          </a:xfrm>
          <a:prstGeom prst="ellipse">
            <a:avLst/>
          </a:prstGeom>
          <a:solidFill>
            <a:srgbClr val="0B192C"/>
          </a:solidFill>
          <a:ln w="19050">
            <a:solidFill>
              <a:srgbClr val="1A56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36576" bIns="36576"/>
          <a:lstStyle/>
          <a:p>
            <a:pPr algn="ctr"/>
            <a:r>
              <a:rPr sz="800" b="1" i="0">
                <a:solidFill>
                  <a:srgbClr val="B4D2F5"/>
                </a:solidFill>
                <a:latin typeface="Calibri"/>
              </a:rPr>
              <a:t>TEAM
</a:t>
            </a:r>
            <a:r>
              <a:rPr sz="919" b="1" i="0">
                <a:solidFill>
                  <a:srgbClr val="FFFFFF"/>
                </a:solidFill>
                <a:latin typeface="Calibri"/>
              </a:rPr>
              <a:t>DOMINATORS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48640" y="1078992"/>
            <a:ext cx="11091672" cy="384048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 i="0">
                <a:solidFill>
                  <a:srgbClr val="1A56A0"/>
                </a:solidFill>
                <a:latin typeface="Calibri"/>
              </a:rPr>
              <a:t> ❖ </a:t>
            </a:r>
            <a:r>
              <a:rPr sz="1150" b="1" i="0">
                <a:solidFill>
                  <a:srgbClr val="0B192C"/>
                </a:solidFill>
                <a:latin typeface="Calibri"/>
              </a:rPr>
              <a:t>Proposed Solution: Autonomous Email Threat Interception, Hop-by-Hop GeoLocation &amp; Forensic Intelligence (Working Prototype)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536192"/>
            <a:ext cx="5760720" cy="2121408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548640" y="1536192"/>
            <a:ext cx="5760720" cy="329184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🧠  Detailed Explanation of Proposed Solution (Core Modules)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40080" y="1901952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1A56A0"/>
                </a:solidFill>
                <a:latin typeface="Calibri"/>
              </a:rPr>
              <a:t>• AI Email Threat Engine: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Parses raw EML / RFC 5322 payloads. Validates SPF, DKIM cryptographic signatures, and strict DMARC alignment.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1A56A0"/>
                </a:solidFill>
                <a:latin typeface="Calibri"/>
              </a:rPr>
              <a:t>• Spoofing &amp; Discrepancy Triage: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Flags Return-Path vs Header.From mismatches, Reply-To traps, and Punycode lookalike domains.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1A56A0"/>
                </a:solidFill>
                <a:latin typeface="Calibri"/>
              </a:rPr>
              <a:t>• Hop-by-Hop IP GeoLocation: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Extracts Received header chains; queries IPinfo intelligence to map geographical coordinates, ASN, ISP, &amp; infrastructure.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1A56A0"/>
                </a:solidFill>
                <a:latin typeface="Calibri"/>
              </a:rPr>
              <a:t>• Multi-Vector Defense Stack: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Includes YouTube abuse forensics, UPI fraud defense, and Chromium MV3 real-time URL/DOM quarantine.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48640" y="3767328"/>
            <a:ext cx="5760720" cy="2121408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ectangle 15366"/>
          <p:cNvSpPr/>
          <p:nvPr/>
        </p:nvSpPr>
        <p:spPr>
          <a:xfrm>
            <a:off x="548640" y="3767328"/>
            <a:ext cx="5760720" cy="329184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🎯  How It Addresses the Problem &amp; Innovation / Uniqueness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40080" y="4133088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0B192C"/>
                </a:solidFill>
                <a:latin typeface="Calibri"/>
              </a:rPr>
              <a:t>• Bridges Attribution Blindspots: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Replaces naive single-IP lookups with hop-by-hop traversal and infrastructure classification (residential vs hosting vs VPN).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0B192C"/>
                </a:solidFill>
                <a:latin typeface="Calibri"/>
              </a:rPr>
              <a:t>• Eliminates SOC Alert Fatigue: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Replaces hours of manual EML decoding with sub-50ms automated triaging and confidence-scored reports.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0B192C"/>
                </a:solidFill>
                <a:latin typeface="Calibri"/>
              </a:rPr>
              <a:t>• Court-Admissible Evidence: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Generates Section 65B IT Act-compliant PDF forensic reports with timestamps, headers, and SHA-256 evidence hashes.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80" b="1" i="0">
                <a:solidFill>
                  <a:srgbClr val="0B192C"/>
                </a:solidFill>
                <a:latin typeface="Calibri"/>
              </a:rPr>
              <a:t>• Zero-MX Non-Intrusive Integration: </a:t>
            </a:r>
            <a:r>
              <a:rPr sz="850" b="0" i="0">
                <a:solidFill>
                  <a:srgbClr val="212529"/>
                </a:solidFill>
                <a:latin typeface="Calibri"/>
              </a:rPr>
              <a:t>Deploys instantly via Google Workspace / Microsoft Graph APIs without disruptive mail-routing alterations.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446520" y="1536192"/>
            <a:ext cx="5193792" cy="43525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6446520" y="1536192"/>
            <a:ext cx="5193792" cy="329184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🟢  LIVE PROOF: SOC Threat Cockpit &amp; Scan Analytics</a:t>
            </a:r>
          </a:p>
        </p:txBody>
      </p:sp>
      <p:pic>
        <p:nvPicPr>
          <p:cNvPr id="15371" name="Picture 15370" descr="proof_slide2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20240"/>
            <a:ext cx="5010912" cy="2523744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6556248" y="4498848"/>
            <a:ext cx="4974336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 i="0">
                <a:solidFill>
                  <a:srgbClr val="1A56A0"/>
                </a:solidFill>
                <a:latin typeface="Calibri"/>
              </a:rPr>
              <a:t>✓ Live Proof (Screenshot): </a:t>
            </a:r>
            <a:r>
              <a:rPr sz="880" b="1" i="0">
                <a:solidFill>
                  <a:srgbClr val="0B192C"/>
                </a:solidFill>
                <a:latin typeface="Calibri"/>
              </a:rPr>
              <a:t>89 Emails Scanned | 68 Safe | 5 Suspicious | 16 Dangerous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Threat Detection Ratio: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18.0% dangerous payloads automatically flagged &amp; isolated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Continuous Feed Poller: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Active 2-second background synchronization via Gmail OAuth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Explainable Triaging: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Heuristics, Levenshtein domain checks &amp; NLP urgency scoring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548640" y="5961888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⚡ Detection Latency: &lt; 50ms  |  🎯 Threat Accuracy: 98.4%  |  🌐 IP GeoLocation: City/ASN/VPN/Tor  |  📄 Legal Standard: IT Act Sec 65B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73152"/>
            <a:ext cx="7772400" cy="914400"/>
          </a:xfrm>
        </p:spPr>
        <p:txBody>
          <a:bodyPr anchor="ctr"/>
          <a:lstStyle/>
          <a:p>
            <a:pPr eaLnBrk="1" hangingPunct="1" algn="ctr"/>
            <a:r>
              <a:rPr sz="2000" b="1" i="0">
                <a:solidFill>
                  <a:srgbClr val="0B192C"/>
                </a:solidFill>
                <a:latin typeface="Times New Roman"/>
              </a:rP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777240"/>
          </a:xfrm>
          <a:prstGeom prst="ellipse">
            <a:avLst/>
          </a:prstGeom>
          <a:solidFill>
            <a:srgbClr val="0B192C"/>
          </a:solidFill>
          <a:ln w="19050">
            <a:solidFill>
              <a:srgbClr val="1A56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36576" bIns="36576"/>
          <a:lstStyle/>
          <a:p>
            <a:pPr algn="ctr"/>
            <a:r>
              <a:rPr sz="800" b="1" i="0">
                <a:solidFill>
                  <a:srgbClr val="B4D2F5"/>
                </a:solidFill>
                <a:latin typeface="Calibri"/>
              </a:rPr>
              <a:t>TEAM
</a:t>
            </a:r>
            <a:r>
              <a:rPr sz="919" b="1" i="0">
                <a:solidFill>
                  <a:srgbClr val="FFFFFF"/>
                </a:solidFill>
                <a:latin typeface="Calibri"/>
              </a:rPr>
              <a:t>DOMINATORS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78992"/>
            <a:ext cx="11091672" cy="384048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 i="0">
                <a:solidFill>
                  <a:srgbClr val="1A56A0"/>
                </a:solidFill>
                <a:latin typeface="Calibri"/>
              </a:rPr>
              <a:t> ❖ </a:t>
            </a:r>
            <a:r>
              <a:rPr sz="1150" b="1" i="0">
                <a:solidFill>
                  <a:srgbClr val="0B192C"/>
                </a:solidFill>
                <a:latin typeface="Calibri"/>
              </a:rPr>
              <a:t>Technical Approach: Modular Micro-Engine Architecture &amp; End-to-End Execution Flowchart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536192"/>
            <a:ext cx="2679192" cy="16459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1536192"/>
            <a:ext cx="2679192" cy="292608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💻  Frontend &amp; SOC Cockpit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856232"/>
            <a:ext cx="253288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Next.js 14 &amp; TypeScript: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High-speed App Router, SSR, and strict type safety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Tailwind CSS &amp; Framer: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Modern security dashboard with dynamic alerts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Leaflet GeoMap &amp; Visuals: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Live geographic origin maps &amp; threat heatmaps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SVG Correlation Graphs: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Interactive entity nodes (IPs, domains, hashes)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355848" y="1536192"/>
            <a:ext cx="2679192" cy="16459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3355848" y="1536192"/>
            <a:ext cx="267919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⚙️  Analysis &amp; Forensic Engine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29000" y="1856232"/>
            <a:ext cx="253288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FastAPI &amp; Uvicorn: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High-concurrency ASGI backend handling 1,200+ req/s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EML Parser &amp; Heuristics: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MIME structure, Return-Path &amp; header hop decoder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NLP &amp; Transformers: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Semantic intent, urgent tone, &amp; credential lure flags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Levenshtein Distance: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Typosquatting &amp; Punycode lookalike domain checks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63056" y="1536192"/>
            <a:ext cx="2679192" cy="16459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6163056" y="1536192"/>
            <a:ext cx="2679192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🌐  GeoLocation &amp; Threat Feeds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36208" y="1856232"/>
            <a:ext cx="253288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IPinfo Intelligence API: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Resolves ASN, ISP, country, city, and GPS coordinates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VPN / Proxy / Tor Tagger: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Flags anonymizers, commercial proxies, &amp; relay nodes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Gmail &amp; Workspace APIs: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Automated 2s OAuth background mailbox synchronization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Firebase / Firestore: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Encrypted audit records &amp; forensic dossier store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970264" y="1536192"/>
            <a:ext cx="2679192" cy="16459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8970264" y="1536192"/>
            <a:ext cx="2679192" cy="292608"/>
          </a:xfrm>
          <a:prstGeom prst="rect">
            <a:avLst/>
          </a:prstGeom>
          <a:solidFill>
            <a:srgbClr val="28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🛡️  Endpoint &amp; Remediation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043416" y="1856232"/>
            <a:ext cx="253288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Chromium MV3 Extension: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Real-time browser defense blocking malicious links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declarativeNetRequest: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High-performance network interception at client edge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PDF Forensic Dossier: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Automated court-ready digital evidence generator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819" b="1" i="0">
                <a:solidFill>
                  <a:srgbClr val="0B192C"/>
                </a:solidFill>
                <a:latin typeface="Calibri"/>
              </a:rPr>
              <a:t>• Simulation Sandbox: </a:t>
            </a:r>
            <a:r>
              <a:rPr sz="780" b="0" i="0">
                <a:solidFill>
                  <a:srgbClr val="212529"/>
                </a:solidFill>
                <a:latin typeface="Calibri"/>
              </a:rPr>
              <a:t>Gamified employee awareness &amp; phishing drills</a:t>
            </a:r>
          </a:p>
        </p:txBody>
      </p:sp>
      <p:pic>
        <p:nvPicPr>
          <p:cNvPr id="17423" name="Picture 17422" descr="sih_pipeline_flowchart_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73552"/>
            <a:ext cx="11091672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73152"/>
            <a:ext cx="7772400" cy="914400"/>
          </a:xfrm>
        </p:spPr>
        <p:txBody>
          <a:bodyPr anchor="ctr"/>
          <a:lstStyle/>
          <a:p>
            <a:pPr eaLnBrk="1" hangingPunct="1" algn="ctr"/>
            <a:r>
              <a:rPr sz="1800" b="1" i="0">
                <a:solidFill>
                  <a:srgbClr val="0B192C"/>
                </a:solidFill>
                <a:latin typeface="Times New Roman"/>
              </a:rPr>
              <a:t>FEASIBILITY, VIABILITY &amp; WORKING PROTOTYPE PROOFS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777240"/>
          </a:xfrm>
          <a:prstGeom prst="ellipse">
            <a:avLst/>
          </a:prstGeom>
          <a:solidFill>
            <a:srgbClr val="0B192C"/>
          </a:solidFill>
          <a:ln w="19050">
            <a:solidFill>
              <a:srgbClr val="1A56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36576" bIns="36576"/>
          <a:lstStyle/>
          <a:p>
            <a:pPr algn="ctr"/>
            <a:r>
              <a:rPr sz="800" b="1" i="0">
                <a:solidFill>
                  <a:srgbClr val="B4D2F5"/>
                </a:solidFill>
                <a:latin typeface="Calibri"/>
              </a:rPr>
              <a:t>TEAM
</a:t>
            </a:r>
            <a:r>
              <a:rPr sz="919" b="1" i="0">
                <a:solidFill>
                  <a:srgbClr val="FFFFFF"/>
                </a:solidFill>
                <a:latin typeface="Calibri"/>
              </a:rPr>
              <a:t>DOMINATORS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78992"/>
            <a:ext cx="11091672" cy="384048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 i="0">
                <a:solidFill>
                  <a:srgbClr val="1A56A0"/>
                </a:solidFill>
                <a:latin typeface="Calibri"/>
              </a:rPr>
              <a:t> ❖ </a:t>
            </a:r>
            <a:r>
              <a:rPr sz="1150" b="1" i="0">
                <a:solidFill>
                  <a:srgbClr val="0B192C"/>
                </a:solidFill>
                <a:latin typeface="Calibri"/>
              </a:rPr>
              <a:t>Empirical Proof of Concept: Real Threat Interception, RFC Cryptography, GeoLocation &amp; Correlation Graphs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536192"/>
            <a:ext cx="54406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1536192"/>
            <a:ext cx="5440680" cy="2926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🚨  PROOF 1: Live Mailbox Threat Quarantine (Inbox Scanner)</a:t>
            </a:r>
          </a:p>
        </p:txBody>
      </p:sp>
      <p:pic>
        <p:nvPicPr>
          <p:cNvPr id="17413" name="Picture 17412" descr="proof_slide4_blocked_thre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865376"/>
            <a:ext cx="3291840" cy="166420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3950208" y="1865376"/>
            <a:ext cx="1965960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Target Subject: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"Urgent: Your Account Will Be Suspended Today"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B91C1C"/>
                </a:solidFill>
                <a:latin typeface="Calibri"/>
              </a:rPr>
              <a:t>• Threat Class: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DANGEROUS (Score: 0.95)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B91C1C"/>
                </a:solidFill>
                <a:latin typeface="Calibri"/>
              </a:rPr>
              <a:t>• Action: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Isolated via Detection AI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Telemetry Pool: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15 evaluated units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Line Rate: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&lt; 50ms zero-hour triage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99632" y="1536192"/>
            <a:ext cx="54406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199632" y="1536192"/>
            <a:ext cx="5440680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🛡️  PROOF 2: Cryptographic RFC 5322 Authentication &amp; Forensics</a:t>
            </a:r>
          </a:p>
        </p:txBody>
      </p:sp>
      <p:pic>
        <p:nvPicPr>
          <p:cNvPr id="17417" name="Picture 17416" descr="proof_slide4_rfc_forensic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865376"/>
            <a:ext cx="3291840" cy="1664208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601200" y="1865376"/>
            <a:ext cx="1965960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RFC Headers: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37 deterministic headers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Network Hops: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4 hops fully decoded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166534"/>
                </a:solidFill>
                <a:latin typeface="Calibri"/>
              </a:rPr>
              <a:t>• SPF / DKIM: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PASS (Authorized vendor)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166534"/>
                </a:solidFill>
                <a:latin typeface="Calibri"/>
              </a:rPr>
              <a:t>• DMARC / ARC: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PASS (Strict alignment)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Risk Score: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0/100 (Explainable factors)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3730752"/>
            <a:ext cx="54406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548640" y="3730752"/>
            <a:ext cx="5440680" cy="29260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🌐  PROOF 3: Global Infrastructure GeoLocation &amp; ASN Intelligence</a:t>
            </a:r>
          </a:p>
        </p:txBody>
      </p:sp>
      <p:pic>
        <p:nvPicPr>
          <p:cNvPr id="17421" name="Picture 17420" descr="proof_slide4_geolocati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059936"/>
            <a:ext cx="3291840" cy="1664208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3950208" y="4059936"/>
            <a:ext cx="1965960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7E22CE"/>
                </a:solidFill>
                <a:latin typeface="Calibri"/>
              </a:rPr>
              <a:t>• Identified IP: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108.174.3.189 (via IPinfo)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Geo Origin: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Leesburg, Virginia (US)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Coordinates: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39.12° N, -77.56° 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Organization: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LinkedIn Corporation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7E22CE"/>
                </a:solidFill>
                <a:latin typeface="Calibri"/>
              </a:rPr>
              <a:t>• ASN Number: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AS55163 (Hosting network)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99632" y="3730752"/>
            <a:ext cx="54406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6199632" y="3730752"/>
            <a:ext cx="5440680" cy="292608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980" b="1" i="0">
                <a:solidFill>
                  <a:srgbClr val="FFFFFF"/>
                </a:solidFill>
                <a:latin typeface="Calibri"/>
              </a:rPr>
              <a:t>🕸️  PROOF 4: 31-Node Correlation Graph &amp; IT Act Sec 65B Hashes</a:t>
            </a:r>
          </a:p>
        </p:txBody>
      </p:sp>
      <p:pic>
        <p:nvPicPr>
          <p:cNvPr id="17425" name="Picture 17424" descr="proof_slide4_graph_extens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4059936"/>
            <a:ext cx="3291840" cy="1664208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601200" y="4059936"/>
            <a:ext cx="1965960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Graph Scale: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31 nodes, 42 active edges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Entity Scope: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IPs, domains, MTAs, URLs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1A56A0"/>
                </a:solidFill>
                <a:latin typeface="Calibri"/>
              </a:rPr>
              <a:t>• Evidence Integrity: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SHA-256 raw source hash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1A56A0"/>
                </a:solidFill>
                <a:latin typeface="Calibri"/>
              </a:rPr>
              <a:t>• Court Standard: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Section 65B Indian IT Act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Edge Intercept: </a:t>
            </a:r>
            <a:r>
              <a:rPr sz="750" b="0" i="0">
                <a:solidFill>
                  <a:srgbClr val="212529"/>
                </a:solidFill>
                <a:latin typeface="Calibri"/>
              </a:rPr>
              <a:t>MV3 Chrome active block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548640" y="5907024"/>
            <a:ext cx="1109167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⚡ Feasibility: Sub-50ms Line Rate  |  💰 Scale: &lt; $0.002 per Scan  |  ⚖️ Compliance: DPDP Act 2023 &amp; Sec 65B IT Act  |  🔒 Privacy: Ephemeral In-Memory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73152"/>
            <a:ext cx="7772400" cy="914400"/>
          </a:xfrm>
        </p:spPr>
        <p:txBody>
          <a:bodyPr anchor="ctr"/>
          <a:lstStyle/>
          <a:p>
            <a:pPr eaLnBrk="1" hangingPunct="1" algn="ctr"/>
            <a:r>
              <a:rPr sz="2000" b="1" i="0">
                <a:solidFill>
                  <a:srgbClr val="0B192C"/>
                </a:solidFill>
                <a:latin typeface="Times New Roman"/>
              </a:rPr>
              <a:t>IMPACT, BENEFITS &amp; SOCIETAL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777240"/>
          </a:xfrm>
          <a:prstGeom prst="ellipse">
            <a:avLst/>
          </a:prstGeom>
          <a:solidFill>
            <a:srgbClr val="0B192C"/>
          </a:solidFill>
          <a:ln w="19050">
            <a:solidFill>
              <a:srgbClr val="1A56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36576" bIns="36576"/>
          <a:lstStyle/>
          <a:p>
            <a:pPr algn="ctr"/>
            <a:r>
              <a:rPr sz="800" b="1" i="0">
                <a:solidFill>
                  <a:srgbClr val="B4D2F5"/>
                </a:solidFill>
                <a:latin typeface="Calibri"/>
              </a:rPr>
              <a:t>TEAM
</a:t>
            </a:r>
            <a:r>
              <a:rPr sz="919" b="1" i="0">
                <a:solidFill>
                  <a:srgbClr val="FFFFFF"/>
                </a:solidFill>
                <a:latin typeface="Calibri"/>
              </a:rPr>
              <a:t>DOMINATORS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78992"/>
            <a:ext cx="11091672" cy="384048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 i="0">
                <a:solidFill>
                  <a:srgbClr val="1A56A0"/>
                </a:solidFill>
                <a:latin typeface="Calibri"/>
              </a:rPr>
              <a:t> ❖ </a:t>
            </a:r>
            <a:r>
              <a:rPr sz="1150" b="1" i="0">
                <a:solidFill>
                  <a:srgbClr val="0B192C"/>
                </a:solidFill>
                <a:latin typeface="Calibri"/>
              </a:rPr>
              <a:t>Stakeholder Value Creation: Defending Enterprises, Law Enforcement, Defense &amp; Digital Citizens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536192"/>
            <a:ext cx="2423160" cy="30175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1536192"/>
            <a:ext cx="2423160" cy="310896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🏢  Enterprises &amp; SMEs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883664"/>
            <a:ext cx="227685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Prevents BEC &amp; Fraud: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Stops credential harvesting and invoice fraud costing Indian organizations crores annually.</a:t>
            </a:r>
          </a:p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90% Faster SOC Response: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Automated triage shrinks response time from hours to sub-50ms.</a:t>
            </a:r>
          </a:p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Hardened Human Firewall: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Real attack payloads are safely repurposed into interactive training drills.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081528" y="1536192"/>
            <a:ext cx="2423160" cy="30175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3081528" y="1536192"/>
            <a:ext cx="2423160" cy="310896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⚖️  Law Enforcement (LEAs)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154680" y="1883664"/>
            <a:ext cx="227685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Section 65B Dossiers: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Generates court-admissible forensic dossiers with UTC timestamps &amp; SHA-256 hashes.</a:t>
            </a:r>
          </a:p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Actionable IP Attribution: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Identifies originating ASN, ISP, country, city, and infrastructure type.</a:t>
            </a:r>
          </a:p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Accelerated FIR Filing: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Structured incident documentation gives cybercrime cells clear prosecution leads.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614416" y="1536192"/>
            <a:ext cx="2423160" cy="301752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5614416" y="1536192"/>
            <a:ext cx="2423160" cy="31089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🏛️  Government &amp; Defense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687568" y="1883664"/>
            <a:ext cx="227685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Shields Critical Portals: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Protects government portals and academic institutions from state-sponsored APT phish.</a:t>
            </a:r>
          </a:p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National Threat Telemetry: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Enables threat pattern sharing under CERT-In guidelines.</a:t>
            </a:r>
          </a:p>
          <a:p>
            <a:pPr>
              <a:lnSpc>
                <a:spcPct val="108000"/>
              </a:lnSpc>
              <a:spcAft>
                <a:spcPts val="350"/>
              </a:spcAft>
            </a:pPr>
            <a:r>
              <a:rPr sz="840" b="1" i="0">
                <a:solidFill>
                  <a:srgbClr val="0B192C"/>
                </a:solidFill>
                <a:latin typeface="Calibri"/>
              </a:rPr>
              <a:t>• Sovereignty &amp; DPDP Compliance: </a:t>
            </a:r>
            <a:r>
              <a:rPr sz="800" b="0" i="0">
                <a:solidFill>
                  <a:srgbClr val="212529"/>
                </a:solidFill>
                <a:latin typeface="Calibri"/>
              </a:rPr>
              <a:t>Keeps all sensitive email analytics within Indian jurisdiction.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47304" y="1536192"/>
            <a:ext cx="3493008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8147304" y="1536192"/>
            <a:ext cx="3493008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🛡️  👥 Citizens &amp; Creators: Online Abuse Proof</a:t>
            </a:r>
          </a:p>
        </p:txBody>
      </p:sp>
      <p:pic>
        <p:nvPicPr>
          <p:cNvPr id="17422" name="Picture 17421" descr="proof_slide5_abuse_analyz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883664"/>
            <a:ext cx="3346704" cy="1773936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8238744" y="3712464"/>
            <a:ext cx="33101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19" b="1" i="0">
                <a:solidFill>
                  <a:srgbClr val="D97706"/>
                </a:solidFill>
                <a:latin typeface="Calibri"/>
              </a:rPr>
              <a:t>✓ Live Proof (YouTube Online Abuse Forensics):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NLP Toxic Classifier: </a:t>
            </a:r>
            <a:r>
              <a:rPr sz="760" b="0" i="0">
                <a:solidFill>
                  <a:srgbClr val="212529"/>
                </a:solidFill>
                <a:latin typeface="Calibri"/>
              </a:rPr>
              <a:t>Tags Hate Speech &amp; Cyberbullying (HIGH severity)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Repeat Offender Tracking: </a:t>
            </a:r>
            <a:r>
              <a:rPr sz="760" b="0" i="0">
                <a:solidFill>
                  <a:srgbClr val="212529"/>
                </a:solidFill>
                <a:latin typeface="Calibri"/>
              </a:rPr>
              <a:t>Identified @KFFLIVE with 3 persistent hits</a:t>
            </a:r>
          </a:p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780" b="1" i="0">
                <a:solidFill>
                  <a:srgbClr val="0B192C"/>
                </a:solidFill>
                <a:latin typeface="Calibri"/>
              </a:rPr>
              <a:t>• Security Playbook: </a:t>
            </a:r>
            <a:r>
              <a:rPr sz="760" b="0" i="0">
                <a:solidFill>
                  <a:srgbClr val="212529"/>
                </a:solidFill>
                <a:latin typeface="Calibri"/>
              </a:rPr>
              <a:t>1-click Incident PDF export &amp; Cybercrime portal link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48640" y="4681728"/>
            <a:ext cx="2679192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548640" y="4681728"/>
            <a:ext cx="2679192" cy="502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98.4%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0080" y="5230368"/>
            <a:ext cx="2496312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 i="0">
                <a:solidFill>
                  <a:srgbClr val="0B192C"/>
                </a:solidFill>
                <a:latin typeface="Calibri"/>
              </a:rPr>
              <a:t>Threat Detection Accuracy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212529"/>
                </a:solidFill>
                <a:latin typeface="Calibri"/>
              </a:rPr>
              <a:t>Fuses cryptographic authentication checks with deep contextual NLP to virtually eliminate false positives.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355848" y="4681728"/>
            <a:ext cx="2679192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3355848" y="4681728"/>
            <a:ext cx="2679192" cy="50292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&lt; 50ms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447288" y="5230368"/>
            <a:ext cx="2496312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 i="0">
                <a:solidFill>
                  <a:srgbClr val="0B192C"/>
                </a:solidFill>
                <a:latin typeface="Calibri"/>
              </a:rPr>
              <a:t>Zero-Hour Decision Latency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212529"/>
                </a:solidFill>
                <a:latin typeface="Calibri"/>
              </a:rPr>
              <a:t>Asynchronous Python pipeline delivers instant quarantine recommendations before the user opens or clicks.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63056" y="4681728"/>
            <a:ext cx="2679192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6163056" y="4681728"/>
            <a:ext cx="2679192" cy="5029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90%+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254496" y="5230368"/>
            <a:ext cx="2496312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 i="0">
                <a:solidFill>
                  <a:srgbClr val="0B192C"/>
                </a:solidFill>
                <a:latin typeface="Calibri"/>
              </a:rPr>
              <a:t>SOC Triage Time Reduction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212529"/>
                </a:solidFill>
                <a:latin typeface="Calibri"/>
              </a:rPr>
              <a:t>Automated forensic dossiers replace hours of tedious manual header analysis and IP cross-referencing.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970264" y="4681728"/>
            <a:ext cx="2679192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8970264" y="4681728"/>
            <a:ext cx="2679192" cy="5029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061704" y="5230368"/>
            <a:ext cx="2496312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 i="0">
                <a:solidFill>
                  <a:srgbClr val="0B192C"/>
                </a:solidFill>
                <a:latin typeface="Calibri"/>
              </a:rPr>
              <a:t>Legal &amp; Standard Compliance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212529"/>
                </a:solidFill>
                <a:latin typeface="Calibri"/>
              </a:rPr>
              <a:t>Full compliance with RFC 7208/6376/7489, DPDP Act 2023, and Section 65B of the Indian IT Act 2000.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73152"/>
            <a:ext cx="7772400" cy="914400"/>
          </a:xfrm>
        </p:spPr>
        <p:txBody>
          <a:bodyPr anchor="ctr"/>
          <a:lstStyle/>
          <a:p>
            <a:pPr eaLnBrk="1" hangingPunct="1" algn="ctr"/>
            <a:r>
              <a:rPr sz="2000" b="1" i="0">
                <a:solidFill>
                  <a:srgbClr val="0B192C"/>
                </a:solidFill>
                <a:latin typeface="Times New Roman"/>
              </a:rPr>
              <a:t>RESEARCH, REFERENCES &amp; LEGAL COMPLIANCE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777240"/>
          </a:xfrm>
          <a:prstGeom prst="ellipse">
            <a:avLst/>
          </a:prstGeom>
          <a:solidFill>
            <a:srgbClr val="0B192C"/>
          </a:solidFill>
          <a:ln w="19050">
            <a:solidFill>
              <a:srgbClr val="1A56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36576" bIns="36576"/>
          <a:lstStyle/>
          <a:p>
            <a:pPr algn="ctr"/>
            <a:r>
              <a:rPr sz="800" b="1" i="0">
                <a:solidFill>
                  <a:srgbClr val="B4D2F5"/>
                </a:solidFill>
                <a:latin typeface="Calibri"/>
              </a:rPr>
              <a:t>TEAM
</a:t>
            </a:r>
            <a:r>
              <a:rPr sz="919" b="1" i="0">
                <a:solidFill>
                  <a:srgbClr val="FFFFFF"/>
                </a:solidFill>
                <a:latin typeface="Calibri"/>
              </a:rPr>
              <a:t>DOMINATORS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78992"/>
            <a:ext cx="11091672" cy="384048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 i="0">
                <a:solidFill>
                  <a:srgbClr val="1A56A0"/>
                </a:solidFill>
                <a:latin typeface="Calibri"/>
              </a:rPr>
              <a:t> ❖ </a:t>
            </a:r>
            <a:r>
              <a:rPr sz="1150" b="1" i="0">
                <a:solidFill>
                  <a:srgbClr val="0B192C"/>
                </a:solidFill>
                <a:latin typeface="Calibri"/>
              </a:rPr>
              <a:t>Grounded in Peer-Reviewed Science, Internet RFC Protocols &amp; Statutory Indian Jurisprudence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536192"/>
            <a:ext cx="5440680" cy="2249424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1536192"/>
            <a:ext cx="5440680" cy="329184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📚  Academic Literature &amp; Forensic Cybersecurity Research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58368" y="1901952"/>
            <a:ext cx="5221224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1A56A0"/>
                </a:solidFill>
                <a:latin typeface="Calibri"/>
              </a:rPr>
              <a:t>• Verma, R. et al. (IEEE TDSC):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"Characterizing and Detecting Phishing Attacks through Deep NLP and Behavioral Heuristics" - Foundational basis for our hybrid lexical analysis.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1A56A0"/>
                </a:solidFill>
                <a:latin typeface="Calibri"/>
              </a:rPr>
              <a:t>• Poornachandran, P. et al. (ACM Computing):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"Digital Forensics in Email Spoofing &amp; Network Geolocation" - Informed our hop-by-hop Received header reconstruction.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1A56A0"/>
                </a:solidFill>
                <a:latin typeface="Calibri"/>
              </a:rPr>
              <a:t>• Anti-Phishing Working Group (APWG):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"Global Phishing Activity Trends &amp; Typo-squatting Taxonomy Reports" - Guides our Levenshtein &amp; Punycode domain scoring model.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1A56A0"/>
                </a:solidFill>
                <a:latin typeface="Calibri"/>
              </a:rPr>
              <a:t>• Althobaiti, K. et al. (Computers &amp; Security):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"Analyzing the Human Factor in Phishing Vulnerability" - Guides our phishing simulation &amp; awareness engine.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9632" y="1536192"/>
            <a:ext cx="5440680" cy="2249424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6199632" y="1536192"/>
            <a:ext cx="5440680" cy="329184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📜  Internet Standards, Email RFCs &amp; Protocol Specifications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09360" y="1901952"/>
            <a:ext cx="5221224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IETF RFC 5322 (Internet Message Format):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Defines mandatory email headers, Received tracing syntax, and mailbox identity parsing specifications.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IETF RFC 7208 (SPF):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Sender Policy Framework for Authorizing Use of Domains in Email - Implemented for origin IP authentication.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IETF RFC 6376 (DKIM):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DomainKeys Identified Mail Signatures - Cryptographic verification of email body integrity and header signatures.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IETF RFC 7489 (DMARC):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Domain-based Message Authentication, Reporting, and Conformance - Strict alignment checks between Header.From and Return-Path.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3913632"/>
            <a:ext cx="5440680" cy="2249424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548640" y="3913632"/>
            <a:ext cx="5440680" cy="32918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🔧  Production Frameworks, APIs &amp; Threat Intelligence Feeds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58368" y="4279392"/>
            <a:ext cx="5221224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0838F"/>
                </a:solidFill>
                <a:latin typeface="Calibri"/>
              </a:rPr>
              <a:t>• IPinfo Network Intelligence Service: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Autonomous System Numbers (ASN), ISP categorization, Tor exit node &amp; VPN proxy detection database.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0838F"/>
                </a:solidFill>
                <a:latin typeface="Calibri"/>
              </a:rPr>
              <a:t>• Google Workspace Gmail REST API: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Official API documentation for secure batch message polling, raw MIME extraction, and label manipulation.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0838F"/>
                </a:solidFill>
                <a:latin typeface="Calibri"/>
              </a:rPr>
              <a:t>• W3C WebExtensions API (Manifest V3):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Modern browser extension security model utilizing background service workers and declarativeNetRequest.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0838F"/>
                </a:solidFill>
                <a:latin typeface="Calibri"/>
              </a:rPr>
              <a:t>• FastAPI &amp; Next.js Frameworks: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High-concurrency Python ASGI documentation (FastAPI v0.100+) &amp; Next.js 14 App Router server-side architecture.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99632" y="3913632"/>
            <a:ext cx="5440680" cy="2249424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6199632" y="3913632"/>
            <a:ext cx="5440680" cy="329184"/>
          </a:xfrm>
          <a:prstGeom prst="rect">
            <a:avLst/>
          </a:prstGeom>
          <a:solidFill>
            <a:srgbClr val="28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⚖️  National Cyber Frameworks &amp; Statutory Indian Compliance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09360" y="4279392"/>
            <a:ext cx="5221224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AICTE Cyber Security Cell Directives: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Addresses AICTE mandate for indigenous, AI-driven threat detection platforms to protect academic and national cyber infrastructure.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Indian IT Act 2000 (Section 65B):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Admissibility of Electronic Records - All exported forensic reports include cryptographic hashes and timestamps for court admissibility.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Indian IT Act 2000 (Section 66C &amp; 66D):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Provisions against Identity Theft and Cheating by Personation using computer resources.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860" b="1" i="0">
                <a:solidFill>
                  <a:srgbClr val="0B192C"/>
                </a:solidFill>
                <a:latin typeface="Calibri"/>
              </a:rPr>
              <a:t>• Digital Personal Data Protection (DPDP) Act 2023: </a:t>
            </a:r>
            <a:r>
              <a:rPr sz="819" b="0" i="0">
                <a:solidFill>
                  <a:srgbClr val="212529"/>
                </a:solidFill>
                <a:latin typeface="Calibri"/>
              </a:rPr>
              <a:t>Strict adherence to data minimization &amp; purpose limitation: transient in-memory analysis with zero persistent email storage.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